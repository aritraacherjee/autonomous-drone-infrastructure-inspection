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Title and capability boundary derived from assembly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sections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sections 5-6.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sections 8 and insertable P19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sections 9-10.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11 and verified P16/P17 lineage.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Verified dashboard_overview.png; P16/P17 package hash inventory 29/29.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Verified inspection_2026091901.md and P17 report SHA-256.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Verified P18 dashboard-completion package; first retry limitation retained.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Verified clean-repeatability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Accepted P19 metrics represented in assembly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P19 3D pending boundary and late-evidence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Workstream 04 pending statement and late-evidence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18 and verified P16/P17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DRAFT
Assembly source: docs/presentation/assembly/slide_content.md
Assembly SHA-256: 76829ec39dff392479c4db9b50683b24143c96080f5eeef56148a6cf06412415
Assembly section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8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AegisInspect: Autonomous Multimodal Drone Infrastructure Inspection with 3D Defect Localization and Reporting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3E0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Robotics/computer-vision infrastructure inspection combining deep-learning defect detection with classical localization, 3D geometry, mapping, persistence and deterministic reporting.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484632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4690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DRAFT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4944" y="56235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Evidence-bound. No Stop C or full-autonomy claim.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Inspection Problem and Objective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09320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/ EVIDENCE-DRIVEN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51206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inspection requires repeatable visual review and traceable defect documentation. AegisInspect keeps each subsystem claim tied to its evidence.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0" y="1737360"/>
            <a:ext cx="530352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Acquire RGB, depth, IMU and LiDAR observations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Detect structural defects and project observations into 3D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Persist records for human review and deterministic reporting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Evaluate detector, localization and spatial outputs reproducibly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5074920"/>
            <a:ext cx="10607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Boundary: this deck does not claim a validated full autonomous mission.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Evidence-Bound System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4599432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398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/ SYSTEM CHAIN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8F2FA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DETECTOR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4884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8F2FA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9476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8F2FA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XYZ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6636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068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8F2FA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MAP RELATION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8660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8F2FA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XYZ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P15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5820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3252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7F6F2"/>
          </a:solidFill>
          <a:ln w="10160">
            <a:solidFill>
              <a:srgbClr val="007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104120" y="22677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78440" y="2057400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7F6F2"/>
          </a:solidFill>
          <a:ln w="10160">
            <a:solidFill>
              <a:srgbClr val="007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379476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94760"/>
            <a:ext cx="73152" cy="10972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950208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932688" y="418795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P16/P17 real handoff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2688" y="4636008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persistence, dashboard and report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26280" y="379476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379476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950208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27448" y="418795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localization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727448" y="4636008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frozen accuracy PASS/FAIL threshold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321040" y="379476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379476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3950208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8522208" y="418795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3D + Workstream 04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22208" y="4636008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correspondence / low-light evaluation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GYU-DET Dataset and Defect Classes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4764024" cy="27432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562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/ DATA FOUNDATION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928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IMAGES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86968" y="21305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10,398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578608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GYU-DET V3 baseline-v1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3736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8928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493008" y="21305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48,392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93008" y="2578608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defect classes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97880" y="173736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737360"/>
            <a:ext cx="73152" cy="10972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8928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099048" y="21305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1,053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99048" y="2578608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03920" y="173736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173736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05088" y="18928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INSTANCES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705088" y="21305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5,886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05088" y="2578608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 instances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5840" y="3337560"/>
            <a:ext cx="38404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Crack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Breakage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Honeycombing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Hole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Exposed Reinforcement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Seepage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2356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counts are data-foundation facts, not detector-performance metrics.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DET-FINAL-v1 Held-Out Detection 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4434840" cy="27432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233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/ REAL HELD-OUT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DET-FINAL-v1 / YOLO26s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31720"/>
            <a:ext cx="73152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4871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mAP50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59536" y="272491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0.29669431228680787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31012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GYU test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3317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4871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mAP50-95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544568" y="272491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0.17480040543737643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331012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GYU test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28432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2331720"/>
            <a:ext cx="73152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4871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CLASS F1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229600" y="272491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0.3556245448108634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331012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validation-selected threshold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55778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- 1,053 test images; 5,886 instances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Validation-selected operating threshold: 0.18618618618618618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Macro precision: 0.37674095487474335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Macro recall: 0.37432339044543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12280" y="4096512"/>
            <a:ext cx="43434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is a detection metric, not generic or drone accuracy. The operating threshold was selected using validation data, not the test set.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 and Simulation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/ SIMULATION RUNTIME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53035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ROS 2 Lyrical and Gazebo Sim 10.5.0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RGB, CameraInfo, IMU, 3D LiDAR, depth, simulation clock and TF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Accepted LiDAR ICP runtime acceptance: PASS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Localization accuracy is MEASURED against simulation ground truth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74520"/>
            <a:ext cx="73152" cy="10972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2029968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ACCEPTANCE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693408" y="22677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93408" y="2715768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ICP runtime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034272" y="187452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34272" y="187452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029968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STATUS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9235440" y="22677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35440" y="2715768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PASS / FAIL classified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9224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frozen localization-accuracy pass/fail threshold exists.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Depth and Camera-Frame XYZ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/ SIMULATION RUNTIME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2423160" cy="10515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73152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3852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CONTRACT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932688" y="217627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32FC1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578608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metres / camera_optical_frame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1783080"/>
            <a:ext cx="2423160" cy="10515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783080"/>
            <a:ext cx="73152" cy="1051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93852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VALIDATION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630168" y="217627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 tests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30168" y="2578608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errors, failures or skips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423160" cy="10515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73152" cy="10515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93852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PROJECTION VALIDATION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327648" y="217627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 tests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7648" y="2578608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errors, failures or skips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823960" y="1783080"/>
            <a:ext cx="2423160" cy="10515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78308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5128" y="193852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FRAME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025128" y="217627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camera_optical_frame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25128" y="2578608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runtime-validated service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101498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and projection are supported in simulation. Camera-frame XYZ alone does not establish real-world depth accuracy, map-frame defect localization, or global localization accuracy.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Map-Frame Defect Localization / P15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VERIFIED REAL HANDOFF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49808" y="1691640"/>
            <a:ext cx="292608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Detection / track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Robust depth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Camera XYZ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Pose transform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Map XYZ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Temporal aggregation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Persistent defect record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94760" y="1737360"/>
            <a:ext cx="0" cy="3566160"/>
          </a:xfrm>
          <a:prstGeom prst="line">
            <a:avLst/>
          </a:prstGeom>
          <a:noFill/>
          <a:ln w="12700">
            <a:solidFill>
              <a:srgbClr val="D5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mapped-defect lineage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66294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P15D-10627c5f-3f84-5c64-ab2d-3e574b6e97ee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XYZ: (3.9000027127470087, -0.09877989958311785, 0.0032930137079122536)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Timestamp: 1970-01-01T00:00:21.813000Z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51960" y="4297680"/>
            <a:ext cx="6629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3D evaluation remains pending a controlled experiment with accepted explicit GT-to-mapped-defect correspondence.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P16 Persistence and Dashboard Review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VERIFIED REAL HANDOFF</a:t>
            </a:r>
            <a:endParaRPr lang="en-US" sz="750" dirty="0"/>
          </a:p>
        </p:txBody>
      </p:sp>
      <p:pic>
        <p:nvPicPr>
          <p:cNvPr id="7" name="Image 0" descr="C:\Users\Aritra\Documents\aegisinspect-p20-deck-draft\outputs\presentation\p16_p17_evidence\dashboard\dashboard_overview.png">    </p:cNvPr>
          <p:cNvPicPr>
            <a:picLocks noChangeAspect="1"/>
          </p:cNvPicPr>
          <p:nvPr/>
        </p:nvPicPr>
        <p:blipFill>
          <a:blip r:embed="rId1"/>
          <a:srcRect l="5680" r="-5680" t="29358" b="-29358"/>
          <a:stretch/>
        </p:blipFill>
        <p:spPr>
          <a:xfrm>
            <a:off x="438912" y="1463040"/>
            <a:ext cx="77266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69164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69164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9368" y="1847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865936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UNREVIEWED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59368" y="2441448"/>
            <a:ext cx="2615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review state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503920" y="3017520"/>
            <a:ext cx="27889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classification: Honeycombing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Confidence: 0.004553093574941158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count: 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DET-FINAL-v1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30768" y="5230368"/>
            <a:ext cx="290779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Extremely-low-confidence, unreviewed machine output used to demonstrate system lineage.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P17 Deterministic Reporting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VERIFIED REAL HANDOFF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6492240" cy="4389120"/>
          </a:xfrm>
          <a:prstGeom prst="roundRect">
            <a:avLst>
              <a:gd name="adj" fmla="val 1042"/>
            </a:avLst>
          </a:prstGeom>
          <a:solidFill>
            <a:srgbClr val="F8FAFC"/>
          </a:solidFill>
          <a:ln w="10160">
            <a:solidFill>
              <a:srgbClr val="DC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01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REPORT EXCERPT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59893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Inspection ID: 2026091901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 ID: P15D-10627c5f-3f84-5c64-ab2d-3e574b6e97ee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Honeycombing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0.004553093574941158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 frame: map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Status: UNREVIEWED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Version: DET-FINAL-v1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337560" cy="1097280"/>
          </a:xfrm>
          <a:prstGeom prst="roundRect">
            <a:avLst>
              <a:gd name="adj" fmla="val 4167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783080"/>
            <a:ext cx="73152" cy="10972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1938528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VERIFICATION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836408" y="21762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HASH-VERIFIED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36408" y="2624328"/>
            <a:ext cx="3026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P17 report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635240" y="3383280"/>
            <a:ext cx="33832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preserves persisted and mapped evidence without inferring severity, dimensions, repair action or structural safety.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P18 Integrated-System Demonstration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VERIFIED PACKAGE</a:t>
            </a:r>
            <a:endParaRPr lang="en-US" sz="750" dirty="0"/>
          </a:p>
        </p:txBody>
      </p:sp>
      <p:pic>
        <p:nvPicPr>
          <p:cNvPr id="7" name="Image 0" descr="C:\Users\Aritra\Documents\aegisinspect-p20-deck-draft\outputs\presentation\p18_evidence\dashboard\dashboard_completion_overview_final.png">    </p:cNvPr>
          <p:cNvPicPr>
            <a:picLocks noChangeAspect="1"/>
          </p:cNvPicPr>
          <p:nvPr/>
        </p:nvPicPr>
        <p:blipFill>
          <a:blip r:embed="rId1"/>
          <a:srcRect l="5680" r="-5680" t="29358" b="-29358"/>
          <a:stretch/>
        </p:blipFill>
        <p:spPr>
          <a:xfrm>
            <a:off x="438912" y="1463040"/>
            <a:ext cx="77266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69164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691640"/>
            <a:ext cx="73152" cy="10058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9368" y="1847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COMPLETION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865936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59368" y="2441448"/>
            <a:ext cx="2615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browser screenshot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430768" y="2999232"/>
            <a:ext cx="2907792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integrated retry validated the same-observation data chain, but its browser capture was absent. The separate dashboard-evidence completion package supplies the accepted real dashboard capture.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8430768" y="5230368"/>
            <a:ext cx="290779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demonstrates integrated runtime and dashboard evidence; it does not establish full autonomy or production readiness.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P18 Clean Repeatability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VERIFIED PACKAGE</a:t>
            </a:r>
            <a:endParaRPr lang="en-US" sz="750" dirty="0"/>
          </a:p>
        </p:txBody>
      </p:sp>
      <p:pic>
        <p:nvPicPr>
          <p:cNvPr id="7" name="Image 0" descr="C:\Users\Aritra\Documents\aegisinspect-p20-deck-draft\outputs\presentation\p18_evidence\dashboard\clean_repeatability_overview.png">    </p:cNvPr>
          <p:cNvPicPr>
            <a:picLocks noChangeAspect="1"/>
          </p:cNvPicPr>
          <p:nvPr/>
        </p:nvPicPr>
        <p:blipFill>
          <a:blip r:embed="rId1"/>
          <a:srcRect l="5680" r="-5680" t="29358" b="-29358"/>
          <a:stretch/>
        </p:blipFill>
        <p:spPr>
          <a:xfrm>
            <a:off x="438912" y="1463040"/>
            <a:ext cx="77266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69164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691640"/>
            <a:ext cx="73152" cy="10058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9368" y="1847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REPEATABILITY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865936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59368" y="2441448"/>
            <a:ext cx="2615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execution identity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430768" y="2999232"/>
            <a:ext cx="2907792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 repeatability package records a new detection and mapped-defect identity, P16 PASS, browser screenshots PASS and P17 PASS under unchanged source and configuration.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8430768" y="5230368"/>
            <a:ext cx="290779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3D correspondence and Workstream 04 evidence remain pending.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Localization Evaluation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09320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/ FROZEN METHODOLOGY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73152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 TRANSLATION RMSE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59536" y="222199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0.595396782192 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280720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 matched samples; interval 3-18 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07408" y="182880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82880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842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RPE TRANSLATION RMSE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608576" y="222199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0.340604743330 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08576" y="280720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1 s +/- 50 ms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56448" y="182880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828800"/>
            <a:ext cx="73152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9842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RPE ROTATION RMSE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357616" y="222199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1.707265244063 deg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57616" y="2807208"/>
            <a:ext cx="3072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 pairs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10058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Ground-truth bracket maximum 50 ms; linear translation interpolation; quaternion SLERP; SE(3) no-scale alignment; scale = 1.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acceptance: PASS. Localization accuracy: MEASURED. No frozen localization-accuracy pass/fail threshold exists.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3D Evaluation Status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/ CONTROLLED CORRESPONDENCE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3D correspondence - pending controlled experiment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2316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 defect ID: pending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240280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42316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defect ID: pending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26664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209544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XYZ: pending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3026664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209544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Ground-truth XYZ: pending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13048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95928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3D error: pending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813048"/>
            <a:ext cx="3154680" cy="530352"/>
          </a:xfrm>
          <a:prstGeom prst="roundRect">
            <a:avLst>
              <a:gd name="adj" fmla="val 6897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3995928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Correspondence provenance: pending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9560" y="2240280"/>
            <a:ext cx="3520440" cy="2103120"/>
          </a:xfrm>
          <a:prstGeom prst="roundRect">
            <a:avLst>
              <a:gd name="adj" fmla="val 1739"/>
            </a:avLst>
          </a:prstGeom>
          <a:solidFill>
            <a:srgbClr val="FFFDF7"/>
          </a:solidFill>
          <a:ln w="10160">
            <a:solidFill>
              <a:srgbClr val="E8C8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evidence visual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only after accepted correspondence evidence arrives.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3D metric or result classification is populated before accepted explicit correspondence.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 04: Low-Light Robustness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44348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233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/ ARMOURY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607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ACCEPTED WORKSTREAM 04 RESULTS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4440" y="2240280"/>
            <a:ext cx="0" cy="2971800"/>
          </a:xfrm>
          <a:prstGeom prst="line">
            <a:avLst/>
          </a:prstGeom>
          <a:noFill/>
          <a:ln w="15240">
            <a:solidFill>
              <a:srgbClr val="0B1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5212080"/>
            <a:ext cx="6537960" cy="0"/>
          </a:xfrm>
          <a:prstGeom prst="line">
            <a:avLst/>
          </a:prstGeom>
          <a:noFill/>
          <a:ln w="15240">
            <a:solidFill>
              <a:srgbClr val="0B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5212080"/>
            <a:ext cx="0" cy="100584"/>
          </a:xfrm>
          <a:prstGeom prst="line">
            <a:avLst/>
          </a:prstGeom>
          <a:noFill/>
          <a:ln w="1016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53949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5212080"/>
            <a:ext cx="0" cy="100584"/>
          </a:xfrm>
          <a:prstGeom prst="line">
            <a:avLst/>
          </a:prstGeom>
          <a:noFill/>
          <a:ln w="1016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53949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5212080"/>
            <a:ext cx="0" cy="100584"/>
          </a:xfrm>
          <a:prstGeom prst="line">
            <a:avLst/>
          </a:prstGeom>
          <a:noFill/>
          <a:ln w="1016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53949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5212080"/>
            <a:ext cx="0" cy="100584"/>
          </a:xfrm>
          <a:prstGeom prst="line">
            <a:avLst/>
          </a:prstGeom>
          <a:noFill/>
          <a:ln w="1016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05856" y="53949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5212080"/>
            <a:ext cx="0" cy="100584"/>
          </a:xfrm>
          <a:prstGeom prst="line">
            <a:avLst/>
          </a:prstGeom>
          <a:noFill/>
          <a:ln w="1016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53949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detector 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(mAP50-95 if accepted)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5532120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Illumination level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2423160"/>
            <a:ext cx="2651760" cy="640080"/>
          </a:xfrm>
          <a:prstGeom prst="roundRect">
            <a:avLst>
              <a:gd name="adj" fmla="val 5714"/>
            </a:avLst>
          </a:prstGeom>
          <a:solidFill>
            <a:srgbClr val="FFF9EC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26791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series reserved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58200" y="3383280"/>
            <a:ext cx="2651760" cy="6400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 w="7620">
            <a:solidFill>
              <a:srgbClr val="E8C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8512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series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if accepted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4709160"/>
            <a:ext cx="3246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points, bars, curves, or performance values are shown before accepted results.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Provenance and Reproducibility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443484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4233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/ HASH-BOUND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02920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Git preservation provenance: canonical P17 preservation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Runtime evidence provenance: recovered P16/P17 ZIP, DB and report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P19 localization evidence preservation commit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Full hashes retained in the verified P20 evidence package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389120" cy="1143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 w="7620">
            <a:solidFill>
              <a:srgbClr val="DC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737360"/>
            <a:ext cx="73152" cy="1143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89280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P16/P17 PACKAGE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693408" y="2130552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29 PASS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93408" y="2624328"/>
            <a:ext cx="4078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package hash inventory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629400" y="3429000"/>
            <a:ext cx="4114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 identifiers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P17 Git: eb4013fa...bbfe488f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P16/P17 ZIP: df3f87f0...9f313ec2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P19 evidence: 4c7bd79a...9a4d78a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Evidence Boundaries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3611880" cy="274320"/>
          </a:xfrm>
          <a:prstGeom prst="roundRect">
            <a:avLst>
              <a:gd name="adj" fmla="val 2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3410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LIMITATIONS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1042416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Held-out detector mAP remains modest; metrics are not generic accuracy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Accepted P16/P17 example is extremely-low-confidence, unreviewed machine output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P19 localization is measured, not threshold-classified as accurate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P19 3D requires explicit correspondence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P18 demonstrates runtime, dashboard-completion and repeatability evidence; Workstream 04 results are pending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Stop C / full autonomy is not demonstrated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/ P20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Demonstrated Capability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5488" y="1060704"/>
            <a:ext cx="96012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18872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5010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DRAFT / EVIDENCE-BOUND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1498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demonstrates a robotics/computer-vision inspection pipeline combining deep-learning structural-defect detection, depth and 3D projection, localization/map-frame processing, mapped-defect persistence, dashboard review, deterministic reporting and measured localization evaluation.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accepted inputs: explicit P19 3D correspondence; Workstream 04 low-light results.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149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is not the same as measured. Pending results remain visible.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7620">
            <a:solidFill>
              <a:srgbClr val="D5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AEGISINSPECT  |  WORKING DRAFT  |  EVIDENCE-BOUND PRESENTATION SOURCE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547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AegisInspect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AegisInspect: Autonomous Multimodal Drone Infrastructure Inspection with 3D Defect Localization and Reporting</dc:title>
  <dc:subject>Evidence-bound working draft</dc:subject>
  <dc:creator>AegisInspect P20</dc:creator>
  <cp:lastModifiedBy>AegisInspect P20</cp:lastModifiedBy>
  <cp:revision>1</cp:revision>
  <dcterms:created xsi:type="dcterms:W3CDTF">2026-09-20T04:45:59Z</dcterms:created>
  <dcterms:modified xsi:type="dcterms:W3CDTF">2026-09-20T04:45:59Z</dcterms:modified>
</cp:coreProperties>
</file>