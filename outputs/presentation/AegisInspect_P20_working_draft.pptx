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Open with the product purpose, then state that every claim is evidence-bound and that full autonomy is not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Frame the problem as repeatable evidence capture and traceable review. The objective is an integrated, measurable workflow—not a claim of a validated autonomous 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Walk left to right from sensing to report. Call out demonstrated P16-P18 handoff, measured localization, and the bounded P19/LL pending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State the frozen dataset counts and six classes. These counts establish the data foundation; they are not performance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Present mAP as detection performance on the one-time held-out split. The diagnostic confidence came from validation; no threshold was tuned on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Separate runtime acceptance from accuracy: LiDAR ICP ran successfully, while trajectory accuracy is reported later as MEASURED without a PASS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Explain the metric-depth contract and ProjectCamera output frame. This is simulation/runtime evidence, not real-world depth or global-position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Trace one accepted record from camera geometry through pose transform, aggregation and map XYZ. Final quantitative 3D correspondence remains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Show that the record persists and is reviewable. Stress that it is extremely-low-confidence and UNREVIEWED, not a confirmed physical defect.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Point out that the report preserves coordinates, confidence, provenance and review state without inventing severity, repairs or safety conclusions.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The first retry validated the same-observation chain but missed the browser capture; the accepted completion package supplies that screenshot. This is integration evidence, not full autonomy.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Explain that a new execution identity repeated detection-to-report behavior under unchanged source and configuration, including browser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Report all three values with the frozen interval and alignment method. They are measured against simulation ground truth and are not classified PASS or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State the implemented and demonstrated spatial chain, the measured localization result, and the one bounded pending item. Do not frame the pending correspondence as integrated-system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Explain the monotonic RAW degradation, that CLAHE is worse at L0-L3 and offers no general recovery, and that both are effectively collapsed at L4. The LL-DETECTOR slot remains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Use this only for Q&amp;A: identify the compact evidence index and explain that accepted artifacts are preserved rather than rewritten.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Be direct: detector performance is modest, external transfer is weak, simulation is not field accuracy, and two bounded final inputs remain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Translate the engineering into user value: repeatable evidence capture, traceable review, and modular deployment. These are application benefits, not market validation or production-readiness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P20 FINALIZATION_READY_FOR_LAST-EVIDENCE_INGESTION
Assembly source: docs/presentation/assembly/slide_content.md
Assembly SHA-256: a9756b6937c47f1129abc87917e7df5fd7b23d087d03117ea2de3666c84bc012
Speaker note: Close on what works today, then name only the two bounded inputs still expected from ARMOURY and MSI.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13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D8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AegisInspect: Multimodal Drone Infrastructure Inspection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3E0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evidence-bound inspection pipeline combining defect detection, localization, 3D geometry, mapping, persistence and deterministic reporting.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484632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946904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FINALIZATION READY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94944" y="56235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Evidence-bound. No Stop C or full-autonomy claim.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Inspection Problem and Objective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EVIDENCE-DRIVEN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51206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 inspection requires repeatable visual review and traceable defect documentation. AegisInspect keeps each subsystem claim tied to its evidence.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0" y="1737360"/>
            <a:ext cx="530352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Acquire RGB, depth, IMU and LiDAR observations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 structural defects and project observations into 3D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 records for human review and deterministic reporting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Evaluate detector, localization and spatial outputs reproducibly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" y="5074920"/>
            <a:ext cx="106070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Boundary: this deck does not claim a validated full autonomous mission.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Evidence-Bound System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599432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3982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SYSTEM CHAIN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DETECTOR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488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2044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9476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XYZ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4068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MAP RELATION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1228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8660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8F2FA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 P15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45820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73252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104120" y="22677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378440" y="2057400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E7F6F2"/>
          </a:solidFill>
          <a:ln w="10160">
            <a:solidFill>
              <a:srgbClr val="0079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69880" y="22951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152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7947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93268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real handoff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3268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persistence, dashboard and report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2628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26280" y="37947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2744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72744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72744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accuracy PASS/FAIL threshold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321040" y="3794760"/>
            <a:ext cx="31546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21040" y="37947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22208" y="3950208"/>
            <a:ext cx="2843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8522208" y="418795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+ LL detector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522208" y="4636008"/>
            <a:ext cx="28437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correspondence / learned model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Dataset and Defect Classes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764024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5628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DATA FOUNDATION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IMAGES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10,398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GYU-DET V3 baseline-v1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9184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737360"/>
            <a:ext cx="73152" cy="109728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300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ANNOTATIONS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49300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48,392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9300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defect classes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89788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173736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TEST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09904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1,053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09904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503920" y="173736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0" y="173736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05088" y="1892808"/>
            <a:ext cx="20665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INSTANCES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705088" y="213055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5,886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705088" y="257860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 instances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005840" y="3337560"/>
            <a:ext cx="384048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Crack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Breakage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Honeycombing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Hole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Exposed Reinforcement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Seepage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623560" y="3657600"/>
            <a:ext cx="475488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counts are data-foundation facts, not detector-performance metrics.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Held-Out Detection Evidence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43484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233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REAL HELD-OUT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691640"/>
            <a:ext cx="41148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DET-FINAL-v1 / YOLO26s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58368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3172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859536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0.29669431228680787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59536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343400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233172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mAP50-95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4544568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0.17480040543737643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held-out GYU test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028432" y="23317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28432" y="233172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248716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CLASS F1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8229600" y="272491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0.3556245448108634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0" y="331012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validation-selected threshold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22960" y="3977640"/>
            <a:ext cx="557784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- 1,053 test images; 5,886 instances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Validation-selected operating threshold: 0.18618618618618618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precision: 0.37674095487474335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Macro recall: 0.37432339044543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812280" y="4096512"/>
            <a:ext cx="43434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is a detection metric, not generic or drone accuracy. The operating threshold was selected using validation data, not the test set.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Localization and Simulation Architecture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737360"/>
            <a:ext cx="530352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ROS 2 Lyrical and Gazebo Sim 10.5.0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RGB, CameraInfo, IMU, 3D LiDAR, depth, simulation clock and TF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LiDAR ICP runtime acceptance: PASS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Localization accuracy is MEASURED against simulation ground truth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92240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87452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ICP runtime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034272" y="1874520"/>
            <a:ext cx="224028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34272" y="1874520"/>
            <a:ext cx="73152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2029968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STATUS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9235440" y="2267712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235440" y="2715768"/>
            <a:ext cx="1929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PASS / FAIL classified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92240" y="3749040"/>
            <a:ext cx="475488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frozen localization-accuracy pass/fail threshold exists.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Depth and Camera-Frame XYZ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SIMULATION RUNTIME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83080"/>
            <a:ext cx="73152" cy="10515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CONTRACT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93268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32FC1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3268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metres / camera_optical_frame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783080"/>
            <a:ext cx="73152" cy="105156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VALIDATION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3016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103 tests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3016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73152" cy="105156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VALIDATION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2764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196 tests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32764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errors, failures or skips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23960" y="1783080"/>
            <a:ext cx="2423160" cy="105156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1783080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25128" y="1938528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FRAME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25128" y="2176272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camera_optical_frame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25128" y="2578608"/>
            <a:ext cx="21122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runtime-validated service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60120" y="3703320"/>
            <a:ext cx="101498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and projection are supported in simulation. Camera-frame XYZ alone does not establish real-world depth accuracy, map-frame defect localization, or global localization accuracy.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Map-Frame Defect Localization / P15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49808" y="1691640"/>
            <a:ext cx="2926080" cy="4023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Detection / track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Robust depth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Camera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Pose transform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Map XYZ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Temporal aggregation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Persistent defect record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794760" y="1737360"/>
            <a:ext cx="0" cy="3566160"/>
          </a:xfrm>
          <a:prstGeom prst="line">
            <a:avLst/>
          </a:prstGeom>
          <a:noFill/>
          <a:ln w="1270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737360"/>
            <a:ext cx="53949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mapped-defect lineage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251960" y="2331720"/>
            <a:ext cx="66294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P15D-10627c5f-3f84-5c64-ab2d-3e574b6e97ee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XYZ: (3.9000027127470087, -0.09877989958311785, 0.0032930137079122536)</a:t>
            </a:r>
            <a:endParaRPr lang="en-US" sz="1550" dirty="0"/>
          </a:p>
          <a:p>
            <a:pPr algn="l"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Timestamp: 1970-01-01T00:00:21.813000Z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251960" y="4297680"/>
            <a:ext cx="66294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evaluation remains pending a controlled experiment with accepted explicit GT-to-mapped-defect correspondence.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 Persistence and Dashboard Review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6_p17_evidence\dashboard\dashboard_overview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UNREVIEWED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review state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503920" y="3017520"/>
            <a:ext cx="278892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 classification: Honeycombing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Confidence: 0.004553093574941158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Observation count: 1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Model: DET-FINAL-v1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Extremely-low-confidence, unreviewed machine output used to demonstrate system lineage.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Deterministic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REAL HANDOFF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6492240" cy="4389120"/>
          </a:xfrm>
          <a:prstGeom prst="roundRect">
            <a:avLst>
              <a:gd name="adj" fmla="val 1042"/>
            </a:avLst>
          </a:prstGeom>
          <a:solidFill>
            <a:srgbClr val="F8FAFC"/>
          </a:solidFill>
          <a:ln w="10160">
            <a:solidFill>
              <a:srgbClr val="DC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0195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REPORT EXCERPT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598932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Inspection ID: 2026091901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Defect ID: P15D-10627c5f-3f84-5c64-ab2d-3e574b6e97ee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 Honeycombing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Confidence: 0.004553093574941158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Coordinate frame: map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Status: UNREVIEWED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7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Version: DET-FINAL-v1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337560" cy="1097280"/>
          </a:xfrm>
          <a:prstGeom prst="roundRect">
            <a:avLst>
              <a:gd name="adj" fmla="val 4167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35240" y="1783080"/>
            <a:ext cx="73152" cy="109728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36408" y="1938528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VERIFICATION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7836408" y="217627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HASH-VERIFIED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2624328"/>
            <a:ext cx="30266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P17 report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35240" y="3383280"/>
            <a:ext cx="338328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report preserves persisted and mapped evidence without inferring severity, dimensions, repair action or structural safety.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Integrated-System Demonstration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PACKAGE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dashboard_completion_overview_final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 COMPLETION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browser screenshot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430768" y="2999232"/>
            <a:ext cx="2907792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integrated retry validated the same-observation data chain, but its browser capture was absent. The separate dashboard-evidence completion package supplies the accepted real dashboard capture.</a:t>
            </a:r>
            <a:endParaRPr lang="en-US" sz="123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demonstrates integrated runtime and dashboard evidence; it does not establish full autonomy or production readiness.</a:t>
            </a:r>
            <a:endParaRPr lang="en-US" sz="107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P18 Clean Repeatability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VERIFIED PACKAGE</a:t>
            </a:r>
            <a:endParaRPr lang="en-US" sz="750" dirty="0"/>
          </a:p>
        </p:txBody>
      </p:sp>
      <p:pic>
        <p:nvPicPr>
          <p:cNvPr id="7" name="Image 0" descr="C:\Users\Aritra\Documents\aegisinspect-p20-deck-draft\outputs\presentation\p18_evidence\dashboard\clean_repeatability_overview.png">    </p:cNvPr>
          <p:cNvPicPr>
            <a:picLocks noChangeAspect="1"/>
          </p:cNvPicPr>
          <p:nvPr/>
        </p:nvPicPr>
        <p:blipFill>
          <a:blip r:embed="rId1"/>
          <a:srcRect l="5680" r="-5680" t="29358" b="-29358"/>
          <a:stretch/>
        </p:blipFill>
        <p:spPr>
          <a:xfrm>
            <a:off x="438912" y="1463040"/>
            <a:ext cx="7726680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458200" y="1691640"/>
            <a:ext cx="2926080" cy="1005840"/>
          </a:xfrm>
          <a:prstGeom prst="roundRect">
            <a:avLst>
              <a:gd name="adj" fmla="val 4545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1691640"/>
            <a:ext cx="73152" cy="10058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59368" y="1847088"/>
            <a:ext cx="2615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REPEATABILITY</a:t>
            </a:r>
            <a:endParaRPr lang="en-US" sz="720" dirty="0"/>
          </a:p>
        </p:txBody>
      </p:sp>
      <p:sp>
        <p:nvSpPr>
          <p:cNvPr id="11" name="Text 8"/>
          <p:cNvSpPr/>
          <p:nvPr/>
        </p:nvSpPr>
        <p:spPr>
          <a:xfrm>
            <a:off x="8659368" y="208483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59368" y="2441448"/>
            <a:ext cx="2615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execution identity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430768" y="2999232"/>
            <a:ext cx="2907792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clean repeatability package records a new detection and mapped-defect identity, P16 PASS, browser screenshots PASS and P17 PASS under unchanged source and configuration.</a:t>
            </a:r>
            <a:endParaRPr lang="en-US" sz="1230" dirty="0"/>
          </a:p>
        </p:txBody>
      </p:sp>
      <p:sp>
        <p:nvSpPr>
          <p:cNvPr id="14" name="Text 11"/>
          <p:cNvSpPr/>
          <p:nvPr/>
        </p:nvSpPr>
        <p:spPr>
          <a:xfrm>
            <a:off x="8430768" y="5230368"/>
            <a:ext cx="290779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3D correspondence and LL-DETECTOR evaluation remain pending.</a:t>
            </a:r>
            <a:endParaRPr lang="en-US" sz="1070" dirty="0"/>
          </a:p>
        </p:txBody>
      </p:sp>
      <p:sp>
        <p:nvSpPr>
          <p:cNvPr id="15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Localization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/ FROZEN METHODOLOGY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5836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828800"/>
            <a:ext cx="73152" cy="12344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TRANSLATION RMSE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5953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0.595396782192 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 matched samples; interval 3-18 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828800"/>
            <a:ext cx="73152" cy="123444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857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TRANSLATION RMSE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0857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0.340604743330 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0857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1 s +/- 50 ms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56448" y="182880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6448" y="1828800"/>
            <a:ext cx="73152" cy="123444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984248"/>
            <a:ext cx="3072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RPE ROTATION RMSE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57616" y="222199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1.707265244063 deg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57616" y="2807208"/>
            <a:ext cx="30723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 pairs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005840" y="3703320"/>
            <a:ext cx="100584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Ground-truth bracket maximum 50 ms; linear translation interpolation; quaternion SLERP; SE(3) no-scale alignment; scale = 1.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acceptance: PASS. Localization accuracy: MEASURED. No frozen localization-accuracy pass/fail threshold exists.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Spatial Validation Status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/ FINAL 3D CORRESPONDENCE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645920"/>
            <a:ext cx="73152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0136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41248" y="20391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-&gt; camera XYZ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41248" y="2350008"/>
            <a:ext cx="2295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projection and map transform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1645920"/>
            <a:ext cx="73152" cy="9601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75888" y="1801368"/>
            <a:ext cx="2295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3675888" y="203911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XYZ -&gt; report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75888" y="2350008"/>
            <a:ext cx="22951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P15 / P16 / P17 / P18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309360" y="1645920"/>
            <a:ext cx="233172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645920"/>
            <a:ext cx="73152" cy="96012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1801368"/>
            <a:ext cx="2020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510528" y="2039112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ATE / RPE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10528" y="2350008"/>
            <a:ext cx="20208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simulation-ground-truth trajectory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869680" y="1645920"/>
            <a:ext cx="2651760" cy="960120"/>
          </a:xfrm>
          <a:prstGeom prst="roundRect">
            <a:avLst>
              <a:gd name="adj" fmla="val 4762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69680" y="1645920"/>
            <a:ext cx="73152" cy="9601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70848" y="1801368"/>
            <a:ext cx="23408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9070848" y="2039112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correspondence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070848" y="2350008"/>
            <a:ext cx="23408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quantitative validation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49808" y="2971800"/>
            <a:ext cx="5669280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Depth projection and camera-frame XYZ are implemented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Map-frame XYZ, defect aggregation and persistence/reporting are demonstrated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Full P18 core-system integration and repeatability are demonstrated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Localization ATE/RPE are measured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766560" y="2971800"/>
            <a:ext cx="4572000" cy="2011680"/>
          </a:xfrm>
          <a:prstGeom prst="roundRect">
            <a:avLst>
              <a:gd name="adj" fmla="val 1818"/>
            </a:avLst>
          </a:prstGeom>
          <a:solidFill>
            <a:srgbClr val="FFF9EC"/>
          </a:solidFill>
          <a:ln w="10160">
            <a:solidFill>
              <a:srgbClr val="E8C8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310128"/>
            <a:ext cx="40233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RESULT SLOT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accepted: insert actual GT↔mapped-defect correspondence and metric.</a:t>
            </a:r>
            <a:endParaRPr lang="en-US" sz="1250" dirty="0"/>
          </a:p>
          <a:p>
            <a:pPr algn="ctr" indent="0" marL="0">
              <a:buNone/>
            </a:pP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Fallback: final quantitative simulator-ground-truth correspondence validation for 3D defect-position accuracy remains pending.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349240"/>
            <a:ext cx="100584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pending P19 research measurement does not invalidate the demonstrated P18 integrated chain.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Workstream 04: Low-Light Robustness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FROZEN VALIDATION BENCHMARK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868680" y="4846320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477316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68680" y="4138749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4065597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8680" y="3431177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358025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68680" y="2723606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5045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68680" y="2016034"/>
            <a:ext cx="6080760" cy="0"/>
          </a:xfrm>
          <a:prstGeom prst="line">
            <a:avLst/>
          </a:prstGeom>
          <a:noFill/>
          <a:ln w="7620">
            <a:solidFill>
              <a:srgbClr val="DCE6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194288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07592" y="2032040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0" y="2096048"/>
            <a:ext cx="1280160" cy="64132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87752" y="2096172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51760" y="2160180"/>
            <a:ext cx="1280160" cy="321089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67912" y="2417262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0" y="2481270"/>
            <a:ext cx="1280160" cy="1471318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48072" y="3888579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12080" y="3952587"/>
            <a:ext cx="1280160" cy="871584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28232" y="4760164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7592" y="2902018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71600" y="2966026"/>
            <a:ext cx="1280160" cy="687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87752" y="2902705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51760" y="2966713"/>
            <a:ext cx="1280160" cy="294054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67912" y="3196759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260767"/>
            <a:ext cx="1280160" cy="1057591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48072" y="4254350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212080" y="4318358"/>
            <a:ext cx="1280160" cy="503987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28232" y="4758337"/>
            <a:ext cx="128016" cy="128016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46888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4904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501091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6032" y="3154680"/>
            <a:ext cx="457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mAP50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188720" y="5349240"/>
            <a:ext cx="411480" cy="0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64208" y="5239512"/>
            <a:ext cx="5029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331720" y="5349240"/>
            <a:ext cx="411480" cy="0"/>
          </a:xfrm>
          <a:prstGeom prst="line">
            <a:avLst/>
          </a:prstGeom>
          <a:noFill/>
          <a:ln w="2794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07208" y="5239512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CLAHE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360920" y="1627632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vs CLAHE mAP50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424928" y="2057400"/>
            <a:ext cx="379476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       RAW             CLAHE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  0.3886917344  0.2657391403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  0.3796280361  0.2656420531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  0.3342489847  0.2240838264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  0.1263098877  0.0746161035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  0.0031301687  0.0033883546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315200" y="3977640"/>
            <a:ext cx="3977640" cy="1600200"/>
          </a:xfrm>
          <a:prstGeom prst="roundRect">
            <a:avLst>
              <a:gd name="adj" fmla="val 2286"/>
            </a:avLst>
          </a:prstGeom>
          <a:solidFill>
            <a:srgbClr val="FFF9EC"/>
          </a:solidFill>
          <a:ln w="10160">
            <a:solidFill>
              <a:srgbClr val="E8C87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89520" y="4261104"/>
            <a:ext cx="3429000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LL-DETECTOR INSERTION SLOT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A: add accepted L0-L4 series.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B: Learned low-light adaptation was implemented, but final presentation-time model training/evaluation was not completed.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Evidence, Provenance and Reproducibility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3941064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3739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HASH-BOUND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029200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Git preservation provenance: canonical P17 preservation state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Runtime evidence provenance: recovered P16/P17 ZIP, DB and report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evidence preservation commit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Full hashes retained in the verified P20 evidence package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1737360"/>
            <a:ext cx="438912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93408" y="1892808"/>
            <a:ext cx="4078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PACKAGE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6693408" y="2130552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 / 29 PASS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93408" y="2624328"/>
            <a:ext cx="40782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package hash inventory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629400" y="3429000"/>
            <a:ext cx="411480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Concise identifiers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P17 Git: eb4013fa...bbfe488f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P16/P17 ZIP: df3f87f0...9f313ec2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P19 evidence: 4c7bd79a...9a4d78a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 and Evidence Boundaries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4928616" cy="274320"/>
          </a:xfrm>
          <a:prstGeom prst="roundRect">
            <a:avLst>
              <a:gd name="adj" fmla="val 2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72744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/ CLAIM BOUNDARIES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42416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Held-out detector mAP remains modest; metrics are not generic accuracy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DamSegment zero-shot transfer is weak, especially Crack recall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Accepted P16/P17 example is extremely-low-confidence, unreviewed machine output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localization is measured, not threshold-classified as accurate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P19 3D requires final explicit simulator-ground-truth correspondence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RAW and CLAHE collapse at L4; LL-DETECTOR training/evaluation remains pending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P18 demonstrates integration and repeatability, not full autonomy or production readiness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and Commercial Value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212080" cy="274320"/>
          </a:xfrm>
          <a:prstGeom prst="roundRect">
            <a:avLst>
              <a:gd name="adj" fmla="val 2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5010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/ APPLICATION VALUE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68580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737360"/>
            <a:ext cx="73152" cy="11430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</a:t>
            </a:r>
            <a:endParaRPr lang="en-US" sz="720" dirty="0"/>
          </a:p>
        </p:txBody>
      </p:sp>
      <p:sp>
        <p:nvSpPr>
          <p:cNvPr id="10" name="Text 8"/>
          <p:cNvSpPr/>
          <p:nvPr/>
        </p:nvSpPr>
        <p:spPr>
          <a:xfrm>
            <a:off x="88696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Repeatable capture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8696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multimodal observations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484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737360"/>
            <a:ext cx="73152" cy="114300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600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720" dirty="0"/>
          </a:p>
        </p:txBody>
      </p:sp>
      <p:sp>
        <p:nvSpPr>
          <p:cNvPr id="15" name="Text 13"/>
          <p:cNvSpPr/>
          <p:nvPr/>
        </p:nvSpPr>
        <p:spPr>
          <a:xfrm>
            <a:off x="463600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evidence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3600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human-in-the-loop records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183880" y="1737360"/>
            <a:ext cx="3291840" cy="1143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 w="7620">
            <a:solidFill>
              <a:srgbClr val="DCE6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737360"/>
            <a:ext cx="73152" cy="1143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85048" y="1892808"/>
            <a:ext cx="2980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8385048" y="2130552"/>
            <a:ext cx="298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output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85048" y="2624328"/>
            <a:ext cx="29809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audit trail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429000"/>
            <a:ext cx="10241280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Supports bridge, building, tunnel and industrial-asset inspection workflows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Modular interfaces allow detector, localization and sensing upgrades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Persistent records support comparison over time and accountable review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Offline evidence package reduces operational presentation and demo risk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51560" y="5532120"/>
            <a:ext cx="10058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value is demonstrated by the system workflow; commercial deployment readiness is not claimed.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/ P20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75488" y="50292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Demonstrated Capability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75488" y="1060704"/>
            <a:ext cx="960120" cy="0"/>
          </a:xfrm>
          <a:prstGeom prst="line">
            <a:avLst/>
          </a:prstGeom>
          <a:noFill/>
          <a:ln w="38100">
            <a:solidFill>
              <a:srgbClr val="00A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93776" y="1188720"/>
            <a:ext cx="5093208" cy="274320"/>
          </a:xfrm>
          <a:prstGeom prst="roundRect">
            <a:avLst>
              <a:gd name="adj" fmla="val 20000"/>
            </a:avLst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261872"/>
            <a:ext cx="4892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DEMONSTRATED / EVIDENCE-BOUND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1014984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demonstrates a robotics/computer-vision inspection pipeline combining deep-learning structural-defect detection, depth and 3D projection, localization/map-frame processing, mapped-defect persistence, dashboard review, deterministic reporting and measured localization evaluation.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4160520"/>
            <a:ext cx="98755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accepted inputs: final P19 3D correspondence; LL-DETECTOR L0-L4 evaluation.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101498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is not the same as measured. Pending results remain visible.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6510528"/>
            <a:ext cx="11356848" cy="0"/>
          </a:xfrm>
          <a:prstGeom prst="line">
            <a:avLst/>
          </a:prstGeom>
          <a:noFill/>
          <a:ln w="7620">
            <a:solidFill>
              <a:srgbClr val="D5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6565392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AEGISINSPECT  |  FINALIZATION READY  |  LAST-EVIDENCE INGESTION OPEN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018520" y="654710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261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AegisInspect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AegisInspect: Multimodal Drone Infrastructure Inspection</dc:title>
  <dc:subject>Evidence-bound presentation; ready for bounded final evidence ingestion</dc:subject>
  <dc:creator>AegisInspect P20</dc:creator>
  <cp:lastModifiedBy>AegisInspect P20</cp:lastModifiedBy>
  <cp:revision>1</cp:revision>
  <dcterms:created xsi:type="dcterms:W3CDTF">2026-09-21T21:46:06Z</dcterms:created>
  <dcterms:modified xsi:type="dcterms:W3CDTF">2026-09-21T21:46:06Z</dcterms:modified>
</cp:coreProperties>
</file>