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P20_READY_FOR_FINAL_FREEZE
Assembly source: docs/presentation/assembly/slide_content.md
Assembly SHA-256: 2dcfb698bab92e2401d6982288d0d9397d474ff987f51f0fcc515bdb079acc51
Speaker note: Open with the product purpose, then state that every claim is evidence-bound and that full autonomy is not claimed.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P20_READY_FOR_FINAL_FREEZE
Assembly source: docs/presentation/assembly/slide_content.md
Assembly SHA-256: 2dcfb698bab92e2401d6982288d0d9397d474ff987f51f0fcc515bdb079acc51
Speaker note: Frame the problem as repeatable evidence capture and traceable review. The objective is an integrated, measurable workflow—not a claim of a validated autonomous 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P20_READY_FOR_FINAL_FREEZE
Assembly source: docs/presentation/assembly/slide_content.md
Assembly SHA-256: 2dcfb698bab92e2401d6982288d0d9397d474ff987f51f0fcc515bdb079acc51
Speaker note: Walk left to right from sensing to report. Call out accepted P18 core integration, measured localization, the frozen-pending P19 3D disposition, and the completed presentation-model low-light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P20_READY_FOR_FINAL_FREEZE
Assembly source: docs/presentation/assembly/slide_content.md
Assembly SHA-256: 2dcfb698bab92e2401d6982288d0d9397d474ff987f51f0fcc515bdb079acc51
Speaker note: State the frozen dataset counts and six classes. These counts establish the data foundation; they are not performance metrics.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P20_READY_FOR_FINAL_FREEZE
Assembly source: docs/presentation/assembly/slide_content.md
Assembly SHA-256: 2dcfb698bab92e2401d6982288d0d9397d474ff987f51f0fcc515bdb079acc51
Speaker note: Present mAP as detection performance on the one-time held-out split. The diagnostic confidence came from validation; no threshold was tuned on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P20_READY_FOR_FINAL_FREEZE
Assembly source: docs/presentation/assembly/slide_content.md
Assembly SHA-256: 2dcfb698bab92e2401d6982288d0d9397d474ff987f51f0fcc515bdb079acc51
Speaker note: Separate runtime acceptance from accuracy: LiDAR ICP ran successfully, while trajectory accuracy is reported later as MEASURED without a PASS threshold.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P20_READY_FOR_FINAL_FREEZE
Assembly source: docs/presentation/assembly/slide_content.md
Assembly SHA-256: 2dcfb698bab92e2401d6982288d0d9397d474ff987f51f0fcc515bdb079acc51
Speaker note: Explain the metric-depth contract and ProjectCamera output frame. This is simulation/runtime evidence, not real-world depth or global-position accuracy.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P20_READY_FOR_FINAL_FREEZE
Assembly source: docs/presentation/assembly/slide_content.md
Assembly SHA-256: 2dcfb698bab92e2401d6982288d0d9397d474ff987f51f0fcc515bdb079acc51
Speaker note: Trace the accepted P18 observation from depth-based camera XYZ into session-local map XYZ and the persisted record. These are not globally surveyed coordinates.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P20_READY_FOR_FINAL_FREEZE
Assembly source: docs/presentation/assembly/slide_content.md
Assembly SHA-256: 2dcfb698bab92e2401d6982288d0d9397d474ff987f51f0fcc515bdb079acc51
Speaker note: Show that the record persists and is reviewable. Stress that it is extremely-low-confidence and UNREVIEWED, not a confirmed physical defect.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P20_READY_FOR_FINAL_FREEZE
Assembly source: docs/presentation/assembly/slide_content.md
Assembly SHA-256: 2dcfb698bab92e2401d6982288d0d9397d474ff987f51f0fcc515bdb079acc51
Speaker note: Use this short excerpt from the accepted P18 inspection report. It preserves session-local coordinates, confidence, provenance and UNREVIEWED state without inventing severity, repairs or safety conclusions.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P20_READY_FOR_FINAL_FREEZE
Assembly source: docs/presentation/assembly/slide_content.md
Assembly SHA-256: 2dcfb698bab92e2401d6982288d0d9397d474ff987f51f0fcc515bdb079acc51
Speaker note: The first retry validated the same-observation chain but missed the browser capture; the accepted completion package supplies that screenshot. This is integration evidence, not full autonomy.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P20_READY_FOR_FINAL_FREEZE
Assembly source: docs/presentation/assembly/slide_content.md
Assembly SHA-256: 2dcfb698bab92e2401d6982288d0d9397d474ff987f51f0fcc515bdb079acc51
Speaker note: Use the primary accepted P18 overview. Explain that one low-confidence machine observation moved through depth projection, session-local mapping, persistence, dashboard and deterministic reporting. Human review remained UNREVIEWED.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P20_READY_FOR_FINAL_FREEZE
Assembly source: docs/presentation/assembly/slide_content.md
Assembly SHA-256: 2dcfb698bab92e2401d6982288d0d9397d474ff987f51f0fcc515bdb079acc51
Speaker note: Report the presentation-rounded values and sample counts. Mandatory qualification: these metrics evaluate localization trajectory accuracy, not absolute defect-position accuracy.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P20_READY_FOR_FINAL_FREEZE
Assembly source: docs/presentation/assembly/slide_content.md
Assembly SHA-256: 2dcfb698bab92e2401d6982288d0d9397d474ff987f51f0fcc515bdb079acc51
Speaker note: P19 development is closed for the capstone. For technical Q&amp;A only: qualifying receipt index 710; RGB and depth binding PASS; startup alignment PASS; truth PASS; 307,200 of 307,200 target pixels; operational GT publication NO. This is advanced R&amp;D validation infrastructure, not a production runtime requirement.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P20_READY_FOR_FINAL_FREEZE
Assembly source: docs/presentation/assembly/slide_content.md
Assembly SHA-256: 2dcfb698bab92e2401d6982288d0d9397d474ff987f51f0fcc515bdb079acc51
Speaker note: Preliminary learned low-light adaptation substantially improved robustness under severe controlled low-light conditions, while producing a small tradeoff under normal and mild illumination. It is slightly below RAW at L0-L1, slightly above RAW at L2, substantially above RAW at L3-L4, and above CLAHE throughout. This is a PRESENTATION / DEMONSTRATION MODEL evaluated on validation development data; it is not the canonical scientific LL-DETECTOR, production-qualified, or locked-test evidence. For Q&amp;A: inference executed exactly once; results-only finalization repaired a CSV schema omission. Inference was not rerun; predictions were not changed; training was not rerun.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P20_READY_FOR_FINAL_FREEZE
Assembly source: docs/presentation/assembly/slide_content.md
Assembly SHA-256: 2dcfb698bab92e2401d6982288d0d9397d474ff987f51f0fcc515bdb079acc51
Speaker note: Use this only for Q&amp;A: identify the compact evidence index and explain that accepted artifacts are preserved rather than rewritten. The ARMOURY presentation model and its 21-file evaluation package are hash-bound in the index.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P20_READY_FOR_FINAL_FREEZE
Assembly source: docs/presentation/assembly/slide_content.md
Assembly SHA-256: 2dcfb698bab92e2401d6982288d0d9397d474ff987f51f0fcc515bdb079acc51
Speaker note: Be direct: detector performance is modest, external transfer is weak, simulation is not field accuracy, P19 3D is frozen pending, and the LL-DETECTOR result is limited to a presentation/demo model on controlled validation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P20_READY_FOR_FINAL_FREEZE
Assembly source: docs/presentation/assembly/slide_content.md
Assembly SHA-256: 2dcfb698bab92e2401d6982288d0d9397d474ff987f51f0fcc515bdb079acc51
Speaker note: Translate the engineering into user value: repeatable evidence capture, traceable review, and modular deployment. These are application benefits, not market validation or production-readiness claims.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P20_READY_FOR_FINAL_FREEZE
Assembly source: docs/presentation/assembly/slide_content.md
Assembly SHA-256: 2dcfb698bab92e2401d6982288d0d9397d474ff987f51f0fcc515bdb079acc51
Speaker note: Close on what works today: P18 core integration is accepted, P19 remains frozen pending, and the ARMOURY presentation-model low-light evaluation is complete. All scientific evidence dependencies are closed for final-freeze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71323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D8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123444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AegisInspect: Multimodal Drone Infrastructure Inspection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85800" y="297180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D3E0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evidence-bound inspection pipeline combining defect detection, localization, 3D geometry, mapping, persistence and deterministic reporting.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5800" y="4846320"/>
            <a:ext cx="3154680" cy="365760"/>
          </a:xfrm>
          <a:prstGeom prst="roundRect">
            <a:avLst>
              <a:gd name="adj" fmla="val 15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946904"/>
            <a:ext cx="2834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FINALIZATION READY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94944" y="56235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3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Evidence-bound. No Stop C or full-autonomy claim.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READY FOR FINAL FREEZE  |  EVIDENCE SLOTS CLOSED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Inspection Problem and Objective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093208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892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/ EVIDENCE-DRIVEN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8368" y="1691640"/>
            <a:ext cx="512064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Infrastructure inspection requires repeatable visual review and traceable defect documentation. AegisInspect keeps each subsystem claim tied to its evidence.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217920" y="1737360"/>
            <a:ext cx="5303520" cy="3291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Acquire RGB, depth, IMU and LiDAR observations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Detect structural defects and project observations into 3D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Persist records for human review and deterministic reporting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Evaluate detector, localization and spatial outputs reproducibly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76656" y="5074920"/>
            <a:ext cx="106070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Boundary: this deck does not claim a validated full autonomous mission.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READY FOR FINAL FREEZE  |  EVIDENCE SLOTS CLOSED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Evidence-Bound System Architecture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4599432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39826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/ SYSTEM CHAIN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0292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 DETECTOR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87452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4884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4028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2044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79476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8620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XYZ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16636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4068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3212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 MAP RELATION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1228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08660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7804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XYZ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 P15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45820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73252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7F6F2"/>
          </a:solidFill>
          <a:ln w="10160">
            <a:solidFill>
              <a:srgbClr val="0079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2396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10412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037844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7F6F2"/>
          </a:solidFill>
          <a:ln w="10160">
            <a:solidFill>
              <a:srgbClr val="0079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6988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P17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31520" y="3794760"/>
            <a:ext cx="31546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3794760"/>
            <a:ext cx="73152" cy="109728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2688" y="3950208"/>
            <a:ext cx="28437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</a:t>
            </a:r>
            <a:endParaRPr lang="en-US" sz="720" dirty="0"/>
          </a:p>
        </p:txBody>
      </p:sp>
      <p:sp>
        <p:nvSpPr>
          <p:cNvPr id="30" name="Text 28"/>
          <p:cNvSpPr/>
          <p:nvPr/>
        </p:nvSpPr>
        <p:spPr>
          <a:xfrm>
            <a:off x="932688" y="4187952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P16/P17 real handoff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32688" y="4636008"/>
            <a:ext cx="28437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persistence, dashboard and report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526280" y="3794760"/>
            <a:ext cx="31546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26280" y="3794760"/>
            <a:ext cx="73152" cy="10972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27448" y="3950208"/>
            <a:ext cx="28437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4727448" y="4187952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localization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4727448" y="4636008"/>
            <a:ext cx="28437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frozen accuracy PASS/FAIL threshold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8321040" y="3794760"/>
            <a:ext cx="31546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321040" y="3794760"/>
            <a:ext cx="73152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522208" y="3950208"/>
            <a:ext cx="28437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8522208" y="4187952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frozen / LL complete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522208" y="4636008"/>
            <a:ext cx="28437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capstone disposition / presentation model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READY FOR FINAL FREEZE  |  EVIDENCE SLOTS CLOSED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GYU-DET Dataset and Defect Classes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4764024" cy="274320"/>
          </a:xfrm>
          <a:prstGeom prst="roundRect">
            <a:avLst>
              <a:gd name="adj" fmla="val 20000"/>
            </a:avLst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5628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DATA FOUNDATION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85800" y="173736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737360"/>
            <a:ext cx="73152" cy="10972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892808"/>
            <a:ext cx="2066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SUPERVISED IMAGES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886968" y="213055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10,398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86968" y="2578608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GYU-DET V3 baseline-v1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291840" y="173736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737360"/>
            <a:ext cx="73152" cy="109728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93008" y="1892808"/>
            <a:ext cx="2066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ANNOTATIONS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3493008" y="213055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48,392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493008" y="2578608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defect classes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897880" y="173736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97880" y="1737360"/>
            <a:ext cx="73152" cy="109728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99048" y="1892808"/>
            <a:ext cx="2066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HELD-OUT TEST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6099048" y="213055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1,053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099048" y="2578608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images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8503920" y="173736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03920" y="1737360"/>
            <a:ext cx="73152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05088" y="1892808"/>
            <a:ext cx="2066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INSTANCES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8705088" y="213055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5,886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705088" y="2578608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 instances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005840" y="3337560"/>
            <a:ext cx="384048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Crack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Breakage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Honeycombing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Hole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Exposed Reinforcement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Seepage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623560" y="3657600"/>
            <a:ext cx="475488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 counts are data-foundation facts, not detector-performance metrics.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READY FOR FINAL FREEZE  |  EVIDENCE SLOTS CLOSED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DET-FINAL-v1 Held-Out Detection Evidence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4434840" cy="274320"/>
          </a:xfrm>
          <a:prstGeom prst="roundRect">
            <a:avLst>
              <a:gd name="adj" fmla="val 20000"/>
            </a:avLst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2336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REAL HELD-OUT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8368" y="1691640"/>
            <a:ext cx="41148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DET-FINAL-v1 / YOLO26s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58368" y="233172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331720"/>
            <a:ext cx="73152" cy="123444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48716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mAP50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859536" y="272491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0.29669431228680787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59536" y="331012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held-out GYU test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343400" y="233172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3400" y="2331720"/>
            <a:ext cx="73152" cy="123444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248716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mAP50-95</a:t>
            </a:r>
            <a:endParaRPr lang="en-US" sz="720" dirty="0"/>
          </a:p>
        </p:txBody>
      </p:sp>
      <p:sp>
        <p:nvSpPr>
          <p:cNvPr id="16" name="Text 14"/>
          <p:cNvSpPr/>
          <p:nvPr/>
        </p:nvSpPr>
        <p:spPr>
          <a:xfrm>
            <a:off x="4544568" y="272491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0.17480040543737643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331012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held-out GYU test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028432" y="233172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28432" y="2331720"/>
            <a:ext cx="73152" cy="123444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248716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CLASS F1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8229600" y="272491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0.3556245448108634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229600" y="331012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validation-selected threshold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822960" y="3977640"/>
            <a:ext cx="5577840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- 1,053 test images; 5,886 instances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Validation-selected operating threshold: 0.18618618618618618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Macro precision: 0.37674095487474335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Macro recall: 0.37432339044543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812280" y="4096512"/>
            <a:ext cx="434340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is a detection metric, not generic or drone accuracy. The operating threshold was selected using validation data, not the test set.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READY FOR FINAL FREEZE  |  EVIDENCE SLOTS CLOSED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Localization and Simulation Architecture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SIMULATION RUNTIME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8368" y="1737360"/>
            <a:ext cx="530352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ROS 2 Lyrical and Gazebo Sim 10.5.0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RGB, CameraInfo, IMU, 3D LiDAR, depth, simulation clock and TF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Accepted LiDAR ICP runtime acceptance: PASS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Localization accuracy is MEASURED against simulation ground truth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92240" y="1874520"/>
            <a:ext cx="22402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92240" y="1874520"/>
            <a:ext cx="73152" cy="109728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93408" y="2029968"/>
            <a:ext cx="1929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ACCEPTANCE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6693408" y="2267712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93408" y="2715768"/>
            <a:ext cx="1929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ICP runtime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9034272" y="1874520"/>
            <a:ext cx="22402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34272" y="1874520"/>
            <a:ext cx="73152" cy="10972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2029968"/>
            <a:ext cx="1929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 STATUS</a:t>
            </a:r>
            <a:endParaRPr lang="en-US" sz="720" dirty="0"/>
          </a:p>
        </p:txBody>
      </p:sp>
      <p:sp>
        <p:nvSpPr>
          <p:cNvPr id="16" name="Text 14"/>
          <p:cNvSpPr/>
          <p:nvPr/>
        </p:nvSpPr>
        <p:spPr>
          <a:xfrm>
            <a:off x="9235440" y="2267712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235440" y="2715768"/>
            <a:ext cx="1929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PASS / FAIL classified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492240" y="3749040"/>
            <a:ext cx="475488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frozen localization-accuracy pass/fail threshold exists.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READY FOR FINAL FREEZE  |  EVIDENCE SLOTS CLOSED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Simulated Depth and Camera-Frame XYZ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SIMULATION RUNTIME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731520" y="1783080"/>
            <a:ext cx="2423160" cy="105156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783080"/>
            <a:ext cx="73152" cy="10515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1938528"/>
            <a:ext cx="2112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 CONTRACT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932688" y="2176272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32FC1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32688" y="2578608"/>
            <a:ext cx="2112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metres / camera_optical_frame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429000" y="1783080"/>
            <a:ext cx="2423160" cy="105156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9000" y="1783080"/>
            <a:ext cx="73152" cy="105156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1938528"/>
            <a:ext cx="2112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 VALIDATION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3630168" y="2176272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103 tests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630168" y="2578608"/>
            <a:ext cx="2112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errors, failures or skips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126480" y="1783080"/>
            <a:ext cx="2423160" cy="105156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783080"/>
            <a:ext cx="73152" cy="105156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27648" y="1938528"/>
            <a:ext cx="2112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PROJECTION VALIDATION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6327648" y="2176272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196 tests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327648" y="2578608"/>
            <a:ext cx="2112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errors, failures or skips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8823960" y="1783080"/>
            <a:ext cx="2423160" cy="105156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823960" y="1783080"/>
            <a:ext cx="73152" cy="10515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25128" y="1938528"/>
            <a:ext cx="2112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 FRAME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9025128" y="2176272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camera_optical_frame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25128" y="2578608"/>
            <a:ext cx="2112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runtime-validated service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960120" y="3703320"/>
            <a:ext cx="1014984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 and projection are supported in simulation. Camera-frame XYZ alone does not establish real-world depth accuracy, map-frame defect localization, or global localization accuracy.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READY FOR FINAL FREEZE  |  EVIDENCE SLOTS CLOSED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Map-Frame Defect Localization / P15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ACCEPTED P18 HANDOFF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49808" y="1691640"/>
            <a:ext cx="2926080" cy="4023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Detection / track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Robust depth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Camera XYZ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Pose transform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Map XYZ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Temporal aggregation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Persistent defect record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794760" y="1737360"/>
            <a:ext cx="0" cy="3566160"/>
          </a:xfrm>
          <a:prstGeom prst="line">
            <a:avLst/>
          </a:prstGeom>
          <a:noFill/>
          <a:ln w="12700">
            <a:solidFill>
              <a:srgbClr val="D5DE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1960" y="1737360"/>
            <a:ext cx="53949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P18 mapped-defect lineage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251960" y="2267712"/>
            <a:ext cx="66294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class: Honeycombing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 XYZ: approximately (0.0056, -0.0028, 3.1251) m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Session-local map XYZ: approximately (3.8882, 0.0712, -0.0035) m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Model: DET-FINAL-v1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251960" y="4370832"/>
            <a:ext cx="662940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Low-confidence, machine-generated and UNREVIEWED. Final quantitative absolute defect-position correspondence was not completed.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READY FOR FINAL FREEZE  |  EVIDENCE SLOTS CLOSED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 Persistence and Dashboard Review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VERIFIED REAL HANDOFF</a:t>
            </a:r>
            <a:endParaRPr lang="en-US" sz="750" dirty="0"/>
          </a:p>
        </p:txBody>
      </p:sp>
      <p:pic>
        <p:nvPicPr>
          <p:cNvPr id="7" name="Image 0" descr="C:\users\aritra\documents\aegisinspect-p20-deck-draft\outputs\presentation\p16_p17_evidence\dashboard\dashboard_overview.png">    </p:cNvPr>
          <p:cNvPicPr>
            <a:picLocks noChangeAspect="1"/>
          </p:cNvPicPr>
          <p:nvPr/>
        </p:nvPicPr>
        <p:blipFill>
          <a:blip r:embed="rId1"/>
          <a:srcRect l="5680" r="-5680" t="29358" b="-29358"/>
          <a:stretch/>
        </p:blipFill>
        <p:spPr>
          <a:xfrm>
            <a:off x="438912" y="1463040"/>
            <a:ext cx="7726680" cy="4983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458200" y="1691640"/>
            <a:ext cx="2926080" cy="1005840"/>
          </a:xfrm>
          <a:prstGeom prst="roundRect">
            <a:avLst>
              <a:gd name="adj" fmla="val 4545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58200" y="1691640"/>
            <a:ext cx="73152" cy="10058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59368" y="1847088"/>
            <a:ext cx="2615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720" dirty="0"/>
          </a:p>
        </p:txBody>
      </p:sp>
      <p:sp>
        <p:nvSpPr>
          <p:cNvPr id="11" name="Text 8"/>
          <p:cNvSpPr/>
          <p:nvPr/>
        </p:nvSpPr>
        <p:spPr>
          <a:xfrm>
            <a:off x="8659368" y="2084832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UNREVIEWED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659368" y="2441448"/>
            <a:ext cx="2615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review state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8503920" y="3017520"/>
            <a:ext cx="2788920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Detector classification: Honeycombing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Confidence: 0.004553093574941158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Observation count: 1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Model: DET-FINAL-v1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30768" y="5230368"/>
            <a:ext cx="290779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Extremely-low-confidence, unreviewed machine output used to demonstrate system lineage.</a:t>
            </a:r>
            <a:endParaRPr lang="en-US" sz="1125" dirty="0"/>
          </a:p>
        </p:txBody>
      </p:sp>
      <p:sp>
        <p:nvSpPr>
          <p:cNvPr id="15" name="Shape 1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READY FOR FINAL FREEZE  |  EVIDENCE SLOTS CLOSED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P17 Deterministic Reporting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ACCEPTED P18 REPORT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85800" y="1645920"/>
            <a:ext cx="6492240" cy="4389120"/>
          </a:xfrm>
          <a:prstGeom prst="roundRect">
            <a:avLst>
              <a:gd name="adj" fmla="val 1042"/>
            </a:avLst>
          </a:prstGeom>
          <a:solidFill>
            <a:srgbClr val="F8FAFC"/>
          </a:solidFill>
          <a:ln w="10160">
            <a:solidFill>
              <a:srgbClr val="DCE6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90195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REPORT EXCERPT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2331720"/>
            <a:ext cx="5989320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Inspection ID: 2026091904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Defect ID: P15D-9b8ae056-1255-5cf4-ba40-e57a11f35e13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Class: Honeycombing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Confidence: 0.011138029396533966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Coordinate frame: map (session-local)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Status: UNREVIEWED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Version: DET-FINAL-v1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635240" y="1783080"/>
            <a:ext cx="333756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35240" y="1783080"/>
            <a:ext cx="73152" cy="109728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36408" y="1938528"/>
            <a:ext cx="3026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VERIFICATION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7836408" y="2176272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HASH-VERIFIED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836408" y="2624328"/>
            <a:ext cx="30266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P18 / P17 report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635240" y="3383280"/>
            <a:ext cx="338328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report preserves persisted and mapped evidence without inferring severity, dimensions, repair action or structural safety.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READY FOR FINAL FREEZE  |  EVIDENCE SLOTS CLOSED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P18 Integrated-System Demonstration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VERIFIED PACKAGE</a:t>
            </a:r>
            <a:endParaRPr lang="en-US" sz="750" dirty="0"/>
          </a:p>
        </p:txBody>
      </p:sp>
      <p:pic>
        <p:nvPicPr>
          <p:cNvPr id="7" name="Image 0" descr="C:\users\aritra\documents\aegisinspect-p20-deck-draft\outputs\presentation\p18_evidence\dashboard\dashboard_completion_overview_final.png">    </p:cNvPr>
          <p:cNvPicPr>
            <a:picLocks noChangeAspect="1"/>
          </p:cNvPicPr>
          <p:nvPr/>
        </p:nvPicPr>
        <p:blipFill>
          <a:blip r:embed="rId1"/>
          <a:srcRect l="5680" r="-5680" t="29358" b="-29358"/>
          <a:stretch/>
        </p:blipFill>
        <p:spPr>
          <a:xfrm>
            <a:off x="438912" y="1463040"/>
            <a:ext cx="7726680" cy="4983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458200" y="1691640"/>
            <a:ext cx="2926080" cy="1005840"/>
          </a:xfrm>
          <a:prstGeom prst="roundRect">
            <a:avLst>
              <a:gd name="adj" fmla="val 4545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58200" y="1691640"/>
            <a:ext cx="73152" cy="100584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59368" y="1847088"/>
            <a:ext cx="2615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 COMPLETION</a:t>
            </a:r>
            <a:endParaRPr lang="en-US" sz="720" dirty="0"/>
          </a:p>
        </p:txBody>
      </p:sp>
      <p:sp>
        <p:nvSpPr>
          <p:cNvPr id="11" name="Text 8"/>
          <p:cNvSpPr/>
          <p:nvPr/>
        </p:nvSpPr>
        <p:spPr>
          <a:xfrm>
            <a:off x="8659368" y="2084832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659368" y="2441448"/>
            <a:ext cx="2615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browser screenshot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8430768" y="2999232"/>
            <a:ext cx="2907792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integrated retry validated the same-observation data chain, but its browser capture was absent. The separate dashboard-evidence completion package supplies the accepted real dashboard capture.</a:t>
            </a:r>
            <a:endParaRPr lang="en-US" sz="1230" dirty="0"/>
          </a:p>
        </p:txBody>
      </p:sp>
      <p:sp>
        <p:nvSpPr>
          <p:cNvPr id="14" name="Text 11"/>
          <p:cNvSpPr/>
          <p:nvPr/>
        </p:nvSpPr>
        <p:spPr>
          <a:xfrm>
            <a:off x="8430768" y="5230368"/>
            <a:ext cx="290779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demonstrates integrated runtime and dashboard evidence; it does not establish full autonomy or production readiness.</a:t>
            </a:r>
            <a:endParaRPr lang="en-US" sz="1070" dirty="0"/>
          </a:p>
        </p:txBody>
      </p:sp>
      <p:sp>
        <p:nvSpPr>
          <p:cNvPr id="15" name="Shape 1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READY FOR FINAL FREEZE  |  EVIDENCE SLOTS CLOSED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P18 Integrated Inspection Evidence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CORE INTEGRATION ACCEPTED</a:t>
            </a:r>
            <a:endParaRPr lang="en-US" sz="750" dirty="0"/>
          </a:p>
        </p:txBody>
      </p:sp>
      <p:pic>
        <p:nvPicPr>
          <p:cNvPr id="7" name="Image 0" descr="C:\users\aritra\documents\aegisinspect-p20-deck-draft\outputs\presentation\p18_evidence\dashboard\clean_repeatability_overview.png">    </p:cNvPr>
          <p:cNvPicPr>
            <a:picLocks noChangeAspect="1"/>
          </p:cNvPicPr>
          <p:nvPr/>
        </p:nvPicPr>
        <p:blipFill>
          <a:blip r:embed="rId1"/>
          <a:srcRect l="5680" r="-5680" t="29358" b="-29358"/>
          <a:stretch/>
        </p:blipFill>
        <p:spPr>
          <a:xfrm>
            <a:off x="438912" y="1463040"/>
            <a:ext cx="7726680" cy="4983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458200" y="1691640"/>
            <a:ext cx="2926080" cy="1005840"/>
          </a:xfrm>
          <a:prstGeom prst="roundRect">
            <a:avLst>
              <a:gd name="adj" fmla="val 4545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58200" y="1691640"/>
            <a:ext cx="73152" cy="100584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59368" y="1847088"/>
            <a:ext cx="2615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P18 CORE INTEGRATION</a:t>
            </a:r>
            <a:endParaRPr lang="en-US" sz="720" dirty="0"/>
          </a:p>
        </p:txBody>
      </p:sp>
      <p:sp>
        <p:nvSpPr>
          <p:cNvPr id="11" name="Text 8"/>
          <p:cNvSpPr/>
          <p:nvPr/>
        </p:nvSpPr>
        <p:spPr>
          <a:xfrm>
            <a:off x="8659368" y="2084832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659368" y="2441448"/>
            <a:ext cx="2615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repeatability PASS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8430768" y="2907792"/>
            <a:ext cx="2907792" cy="1965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8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Honeycombing machine class</a:t>
            </a:r>
            <a:endParaRPr lang="en-US" sz="1080" dirty="0"/>
          </a:p>
          <a:p>
            <a:pPr algn="ctr" indent="0" marL="0">
              <a:buNone/>
            </a:pPr>
            <a:r>
              <a:rPr lang="en-US" sz="108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Confidence: 0.011138029396533966</a:t>
            </a:r>
            <a:endParaRPr lang="en-US" sz="1080" dirty="0"/>
          </a:p>
          <a:p>
            <a:pPr algn="ctr" indent="0" marL="0">
              <a:buNone/>
            </a:pPr>
            <a:r>
              <a:rPr lang="en-US" sz="108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 XYZ: approx. [0.0056, -0.0028, 3.1251] m</a:t>
            </a:r>
            <a:endParaRPr lang="en-US" sz="1080" dirty="0"/>
          </a:p>
          <a:p>
            <a:pPr algn="ctr" indent="0" marL="0">
              <a:buNone/>
            </a:pPr>
            <a:r>
              <a:rPr lang="en-US" sz="108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Session-local map XYZ: approx. [3.8882, 0.0712, -0.0035] m</a:t>
            </a:r>
            <a:endParaRPr lang="en-US" sz="1080" dirty="0"/>
          </a:p>
          <a:p>
            <a:pPr algn="ctr" indent="0" marL="0">
              <a:buNone/>
            </a:pPr>
            <a:r>
              <a:rPr lang="en-US" sz="108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Review: UNREVIEWED</a:t>
            </a:r>
            <a:endParaRPr lang="en-US" sz="1080" dirty="0"/>
          </a:p>
        </p:txBody>
      </p:sp>
      <p:sp>
        <p:nvSpPr>
          <p:cNvPr id="14" name="Text 11"/>
          <p:cNvSpPr/>
          <p:nvPr/>
        </p:nvSpPr>
        <p:spPr>
          <a:xfrm>
            <a:off x="8430768" y="5230368"/>
            <a:ext cx="290779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 confirmed physical defect, diagnosis or structural-safety finding.</a:t>
            </a:r>
            <a:endParaRPr lang="en-US" sz="1070" dirty="0"/>
          </a:p>
        </p:txBody>
      </p:sp>
      <p:sp>
        <p:nvSpPr>
          <p:cNvPr id="15" name="Shape 1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READY FOR FINAL FREEZE  |  EVIDENCE SLOTS CLOSED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Localization Evaluation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093208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892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/ FROZEN METHODOLOGY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58368" y="182880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828800"/>
            <a:ext cx="73152" cy="123444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198424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ATE TRANSLATION RMSE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859536" y="222199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0.595 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59536" y="280720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76 samples; interval 3-18 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07408" y="182880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07408" y="1828800"/>
            <a:ext cx="73152" cy="123444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08576" y="198424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RPE TRANSLATION RMSE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4608576" y="222199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0.341 m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608576" y="280720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delta 1 s +/- 50 ms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156448" y="182880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56448" y="1828800"/>
            <a:ext cx="73152" cy="123444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57616" y="198424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RPE ROTATION RMSE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8357616" y="222199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1.707 degrees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357616" y="280720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 pairs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005840" y="3703320"/>
            <a:ext cx="100584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Ground-truth bracket maximum 50 ms; linear translation interpolation; quaternion SLERP; SE(3) no-scale alignment; scale = 1.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4400" y="4709160"/>
            <a:ext cx="102412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metrics evaluate localization trajectory accuracy, not absolute defect-position accuracy.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READY FOR FINAL FREEZE  |  EVIDENCE SLOTS CLOSED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Capstone Disposition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 / FROZEN CAPSTONE DISPOSITION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40080" y="1645920"/>
            <a:ext cx="2606040" cy="960120"/>
          </a:xfrm>
          <a:prstGeom prst="roundRect">
            <a:avLst>
              <a:gd name="adj" fmla="val 4762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645920"/>
            <a:ext cx="73152" cy="9601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01368"/>
            <a:ext cx="2295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841248" y="203911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 -&gt; camera XYZ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41248" y="2350008"/>
            <a:ext cx="22951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projection and map transform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474720" y="1645920"/>
            <a:ext cx="2606040" cy="960120"/>
          </a:xfrm>
          <a:prstGeom prst="roundRect">
            <a:avLst>
              <a:gd name="adj" fmla="val 4762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74720" y="1645920"/>
            <a:ext cx="73152" cy="9601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75888" y="1801368"/>
            <a:ext cx="2295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3675888" y="203911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XYZ -&gt; report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675888" y="2350008"/>
            <a:ext cx="22951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P15 / P16 / P17 / P18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309360" y="1645920"/>
            <a:ext cx="2331720" cy="960120"/>
          </a:xfrm>
          <a:prstGeom prst="roundRect">
            <a:avLst>
              <a:gd name="adj" fmla="val 4762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1645920"/>
            <a:ext cx="73152" cy="96012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10528" y="1801368"/>
            <a:ext cx="2020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6510528" y="2039112"/>
            <a:ext cx="2020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ATE / RPE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510528" y="2350008"/>
            <a:ext cx="20208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simulation-ground-truth trajectory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8869680" y="1645920"/>
            <a:ext cx="2651760" cy="960120"/>
          </a:xfrm>
          <a:prstGeom prst="roundRect">
            <a:avLst>
              <a:gd name="adj" fmla="val 4762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869680" y="1645920"/>
            <a:ext cx="73152" cy="9601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70848" y="1801368"/>
            <a:ext cx="23408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9070848" y="2039112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3D correspondence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070848" y="2350008"/>
            <a:ext cx="2340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quantitative validation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749808" y="2971800"/>
            <a:ext cx="5669280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Depth projection and camera-frame XYZ are implemented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Map-frame XYZ, defect aggregation and persistence/reporting are demonstrated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Full P18 core-system integration and repeatability are demonstrated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Localization ATE/RPE are measured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766560" y="2971800"/>
            <a:ext cx="4572000" cy="2011680"/>
          </a:xfrm>
          <a:prstGeom prst="roundRect">
            <a:avLst>
              <a:gd name="adj" fmla="val 1818"/>
            </a:avLst>
          </a:prstGeom>
          <a:solidFill>
            <a:srgbClr val="FFF9EC"/>
          </a:solidFill>
          <a:ln w="10160">
            <a:solidFill>
              <a:srgbClr val="E8C87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264408"/>
            <a:ext cx="4023360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PENDING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quantitative simulator-ground-truth correspondence validation of absolute defect-position accuracy remained pending at the capstone freeze.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development: CLOSED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51560" y="5285232"/>
            <a:ext cx="1005840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3D defect-to-map integration was demonstrated through P18; localization accuracy was quantitatively measured.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READY FOR FINAL FREEZE  |  EVIDENCE SLOTS CLOSED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Workstream 04: Low-Light Robustness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/ CONTROLLED VALIDATION</a:t>
            </a:r>
            <a:endParaRPr lang="en-US" sz="750" dirty="0"/>
          </a:p>
        </p:txBody>
      </p:sp>
      <p:pic>
        <p:nvPicPr>
          <p:cNvPr id="7" name="Image 0" descr="C:\users\aritra\documents\aegisinspect-p20-deck-draft\outputs\presentation\low_light_evidence\raw_clahe_ll_detector_map5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27632"/>
            <a:ext cx="6492240" cy="39684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269480" y="1627632"/>
            <a:ext cx="4160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/ CLAHE / LL-DETECTOR mAP50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269480" y="2011680"/>
            <a:ext cx="416052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Level      RAW       CLAHE      LL-DETECTOR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L0   0.388692   0.265739   0.365913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L1   0.379628   0.265642   0.359985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L2   0.334249   0.224084   0.343849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L3   0.126310   0.074616   0.290425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L4   0.003130   0.003388   0.124129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7269480" y="3794760"/>
            <a:ext cx="4160520" cy="1783080"/>
          </a:xfrm>
          <a:prstGeom prst="roundRect">
            <a:avLst>
              <a:gd name="adj" fmla="val 2051"/>
            </a:avLst>
          </a:prstGeom>
          <a:solidFill>
            <a:srgbClr val="F0FAF7"/>
          </a:solidFill>
          <a:ln w="10160">
            <a:solidFill>
              <a:srgbClr val="0079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79792" y="4041648"/>
            <a:ext cx="3730752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PRESENTATION / DEMONSTRATION MODEL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L0-L1: small tradeoff vs RAW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L2: slightly above RAW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L3-L4: substantial improvement vs RAW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Above CLAHE at every level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Locked GYU test accessed: FALSE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1005840" y="5806440"/>
            <a:ext cx="101498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 validation only; no universal superiority or production qualification claim.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READY FOR FINAL FREEZE  |  EVIDENCE SLOTS CLOSED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Evidence, Provenance and Reproducibility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3941064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3739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HASH-BOUND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5029200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Git preservation provenance: canonical P17 preservation state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Runtime evidence provenance: recovered P16/P17 ZIP, DB and report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P19 localization evidence preservation commit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Full hashes retained in the verified P20 evidence package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92240" y="1737360"/>
            <a:ext cx="4389120" cy="1143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92240" y="1737360"/>
            <a:ext cx="73152" cy="1143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93408" y="1892808"/>
            <a:ext cx="4078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P16/P17 PACKAGE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6693408" y="2130552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 / 29 PASS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93408" y="2624328"/>
            <a:ext cx="40782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package hash inventory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629400" y="3310128"/>
            <a:ext cx="41148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Concise identifiers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P17 Git: eb4013fa...bbfe488f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P16/P17 ZIP: df3f87f0...9f313ec2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evidence: 4c7bd79a...9a4d78a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 model: 87941c7a...e144d9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READY FOR FINAL FREEZE  |  EVIDENCE SLOTS CLOSED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Limitations and Evidence Boundaries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4928616" cy="274320"/>
          </a:xfrm>
          <a:prstGeom prst="roundRect">
            <a:avLst>
              <a:gd name="adj" fmla="val 20000"/>
            </a:avLst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72744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CLAIM BOUNDARIES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10424160" cy="4297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Held-out detector mAP remains modest; metrics are not generic accuracy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DamSegment zero-shot transfer is weak, especially Crack recall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Accepted dashboard examples are low-confidence, unreviewed machine output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P19 localization is measured trajectory accuracy, not defect-position accuracy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P19 3D correspondence validation is frozen pending at capstone close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LL-DETECTOR is a presentation/demo validation result, not canonical, locked-test or production evidence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P18 demonstrates integration and repeatability, not full autonomy or production readiness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READY FOR FINAL FREEZE  |  EVIDENCE SLOTS CLOSED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and Commercial Value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/ APPLICATION VALUE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85800" y="1737360"/>
            <a:ext cx="3291840" cy="1143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737360"/>
            <a:ext cx="73152" cy="11430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892808"/>
            <a:ext cx="2980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886968" y="2130552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Repeatable capture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86968" y="2624328"/>
            <a:ext cx="29809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multimodal observations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4840" y="1737360"/>
            <a:ext cx="3291840" cy="1143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34840" y="1737360"/>
            <a:ext cx="73152" cy="114300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36008" y="1892808"/>
            <a:ext cx="2980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4636008" y="2130552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evidence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636008" y="2624328"/>
            <a:ext cx="29809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human-in-the-loop records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183880" y="1737360"/>
            <a:ext cx="3291840" cy="1143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1737360"/>
            <a:ext cx="73152" cy="1143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85048" y="1892808"/>
            <a:ext cx="2980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8385048" y="2130552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output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385048" y="2624328"/>
            <a:ext cx="29809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audit trail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960120" y="3429000"/>
            <a:ext cx="10241280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Supports bridge, building, tunnel and industrial-asset inspection workflows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Modular interfaces allow detector, localization and sensing upgrades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Persistent records support comparison over time and accountable review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Offline evidence package reduces operational presentation and demo risk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051560" y="5532120"/>
            <a:ext cx="100584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value is demonstrated by the system workflow; commercial deployment readiness is not claimed.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READY FOR FINAL FREEZE  |  EVIDENCE SLOTS CLOSED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Demonstrated Capability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093208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892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EVIDENCE-BOUND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914400" y="1828800"/>
            <a:ext cx="1014984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demonstrates a robotics/computer-vision inspection pipeline combining deep-learning structural-defect detection, depth and 3D projection, localization/map-frame processing, mapped-defect persistence, dashboard review, deterministic reporting and measured localization evaluation.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4160520"/>
            <a:ext cx="98755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Scientific evidence dependencies: CLOSED. Ready for final-freeze review; not yet final-frozen.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5166360"/>
            <a:ext cx="1014984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is not the same as measured. The frozen-pending status remains visible.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READY FOR FINAL FREEZE  |  EVIDENCE SLOTS CLOSED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AegisInspect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AegisInspect: Multimodal Drone Infrastructure Inspection</dc:title>
  <dc:subject>Evidence-bound presentation; ready for final-freeze review</dc:subject>
  <dc:creator>AegisInspect P20</dc:creator>
  <cp:lastModifiedBy>AegisInspect P20</cp:lastModifiedBy>
  <cp:revision>1</cp:revision>
  <dcterms:created xsi:type="dcterms:W3CDTF">2026-09-22T19:20:30Z</dcterms:created>
  <dcterms:modified xsi:type="dcterms:W3CDTF">2026-09-22T19:20:30Z</dcterms:modified>
</cp:coreProperties>
</file>